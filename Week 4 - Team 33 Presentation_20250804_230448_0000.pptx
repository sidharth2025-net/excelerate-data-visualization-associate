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 Medium" charset="1" panose="000006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embeddings/oleObject1.bin" Type="http://schemas.openxmlformats.org/officeDocument/2006/relationships/oleObject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jpe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11" Target="../media/image51.png" Type="http://schemas.openxmlformats.org/officeDocument/2006/relationships/image"/><Relationship Id="rId2" Target="../media/image1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2" Target="../media/image1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2.png" Type="http://schemas.openxmlformats.org/officeDocument/2006/relationships/image"/><Relationship Id="rId14" Target="../media/image3.svg" Type="http://schemas.openxmlformats.org/officeDocument/2006/relationships/image"/><Relationship Id="rId2" Target="../media/image1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64.png" Type="http://schemas.openxmlformats.org/officeDocument/2006/relationships/image"/><Relationship Id="rId8" Target="../media/image65.svg" Type="http://schemas.openxmlformats.org/officeDocument/2006/relationships/image"/><Relationship Id="rId9" Target="../media/image6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4417" y="-1315743"/>
            <a:ext cx="4586234" cy="3921230"/>
          </a:xfrm>
          <a:custGeom>
            <a:avLst/>
            <a:gdLst/>
            <a:ahLst/>
            <a:cxnLst/>
            <a:rect r="r" b="b" t="t" l="l"/>
            <a:pathLst>
              <a:path h="3921230" w="4586234">
                <a:moveTo>
                  <a:pt x="0" y="0"/>
                </a:moveTo>
                <a:lnTo>
                  <a:pt x="4586234" y="0"/>
                </a:lnTo>
                <a:lnTo>
                  <a:pt x="4586234" y="3921230"/>
                </a:lnTo>
                <a:lnTo>
                  <a:pt x="0" y="3921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924482" y="6338134"/>
            <a:ext cx="5765263" cy="5549066"/>
          </a:xfrm>
          <a:custGeom>
            <a:avLst/>
            <a:gdLst/>
            <a:ahLst/>
            <a:cxnLst/>
            <a:rect r="r" b="b" t="t" l="l"/>
            <a:pathLst>
              <a:path h="5549066" w="5765263">
                <a:moveTo>
                  <a:pt x="0" y="0"/>
                </a:moveTo>
                <a:lnTo>
                  <a:pt x="5765263" y="0"/>
                </a:lnTo>
                <a:lnTo>
                  <a:pt x="5765263" y="5549066"/>
                </a:lnTo>
                <a:lnTo>
                  <a:pt x="0" y="5549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755869">
            <a:off x="-1601750" y="8373863"/>
            <a:ext cx="3850339" cy="3826275"/>
          </a:xfrm>
          <a:custGeom>
            <a:avLst/>
            <a:gdLst/>
            <a:ahLst/>
            <a:cxnLst/>
            <a:rect r="r" b="b" t="t" l="l"/>
            <a:pathLst>
              <a:path h="3826275" w="3850339">
                <a:moveTo>
                  <a:pt x="0" y="0"/>
                </a:moveTo>
                <a:lnTo>
                  <a:pt x="3850339" y="0"/>
                </a:lnTo>
                <a:lnTo>
                  <a:pt x="3850339" y="3826274"/>
                </a:lnTo>
                <a:lnTo>
                  <a:pt x="0" y="38262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011672">
            <a:off x="16657570" y="-1231080"/>
            <a:ext cx="3260859" cy="3240479"/>
          </a:xfrm>
          <a:custGeom>
            <a:avLst/>
            <a:gdLst/>
            <a:ahLst/>
            <a:cxnLst/>
            <a:rect r="r" b="b" t="t" l="l"/>
            <a:pathLst>
              <a:path h="3240479" w="3260859">
                <a:moveTo>
                  <a:pt x="0" y="0"/>
                </a:moveTo>
                <a:lnTo>
                  <a:pt x="3260860" y="0"/>
                </a:lnTo>
                <a:lnTo>
                  <a:pt x="3260860" y="3240480"/>
                </a:lnTo>
                <a:lnTo>
                  <a:pt x="0" y="3240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925475" y="6477708"/>
            <a:ext cx="2095421" cy="2422452"/>
          </a:xfrm>
          <a:custGeom>
            <a:avLst/>
            <a:gdLst/>
            <a:ahLst/>
            <a:cxnLst/>
            <a:rect r="r" b="b" t="t" l="l"/>
            <a:pathLst>
              <a:path h="2422452" w="2095421">
                <a:moveTo>
                  <a:pt x="2095422" y="0"/>
                </a:moveTo>
                <a:lnTo>
                  <a:pt x="0" y="0"/>
                </a:lnTo>
                <a:lnTo>
                  <a:pt x="0" y="2422452"/>
                </a:lnTo>
                <a:lnTo>
                  <a:pt x="2095422" y="2422452"/>
                </a:lnTo>
                <a:lnTo>
                  <a:pt x="209542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56197" y="5866168"/>
            <a:ext cx="7375606" cy="1104916"/>
            <a:chOff x="0" y="0"/>
            <a:chExt cx="4662671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2670" cy="698500"/>
            </a:xfrm>
            <a:custGeom>
              <a:avLst/>
              <a:gdLst/>
              <a:ahLst/>
              <a:cxnLst/>
              <a:rect r="r" b="b" t="t" l="l"/>
              <a:pathLst>
                <a:path h="698500" w="4662670">
                  <a:moveTo>
                    <a:pt x="4662670" y="349250"/>
                  </a:moveTo>
                  <a:lnTo>
                    <a:pt x="445947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459470" y="0"/>
                  </a:lnTo>
                  <a:lnTo>
                    <a:pt x="4662670" y="349250"/>
                  </a:ln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443407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90755" y="-520033"/>
            <a:ext cx="1597906" cy="1818385"/>
          </a:xfrm>
          <a:custGeom>
            <a:avLst/>
            <a:gdLst/>
            <a:ahLst/>
            <a:cxnLst/>
            <a:rect r="r" b="b" t="t" l="l"/>
            <a:pathLst>
              <a:path h="1818385" w="1597906">
                <a:moveTo>
                  <a:pt x="0" y="0"/>
                </a:moveTo>
                <a:lnTo>
                  <a:pt x="1597906" y="0"/>
                </a:lnTo>
                <a:lnTo>
                  <a:pt x="1597906" y="1818386"/>
                </a:lnTo>
                <a:lnTo>
                  <a:pt x="0" y="18183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321817" y="7676928"/>
            <a:ext cx="597955" cy="1023804"/>
          </a:xfrm>
          <a:custGeom>
            <a:avLst/>
            <a:gdLst/>
            <a:ahLst/>
            <a:cxnLst/>
            <a:rect r="r" b="b" t="t" l="l"/>
            <a:pathLst>
              <a:path h="1023804" w="597955">
                <a:moveTo>
                  <a:pt x="0" y="0"/>
                </a:moveTo>
                <a:lnTo>
                  <a:pt x="597955" y="0"/>
                </a:lnTo>
                <a:lnTo>
                  <a:pt x="597955" y="1023804"/>
                </a:lnTo>
                <a:lnTo>
                  <a:pt x="0" y="10238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-294970" b="-13068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41446" y="2951283"/>
            <a:ext cx="15405108" cy="256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8"/>
              </a:lnSpc>
            </a:pPr>
            <a:r>
              <a:rPr lang="en-US" b="true" sz="1417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REPORT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26413" y="6085568"/>
            <a:ext cx="60351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TEAM 33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5385" y="2067340"/>
            <a:ext cx="4171277" cy="7499573"/>
            <a:chOff x="0" y="0"/>
            <a:chExt cx="698500" cy="1255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9188"/>
              <a:ext cx="698500" cy="1237462"/>
            </a:xfrm>
            <a:custGeom>
              <a:avLst/>
              <a:gdLst/>
              <a:ahLst/>
              <a:cxnLst/>
              <a:rect r="r" b="b" t="t" l="l"/>
              <a:pathLst>
                <a:path h="1237462" w="698500">
                  <a:moveTo>
                    <a:pt x="390609" y="14876"/>
                  </a:moveTo>
                  <a:lnTo>
                    <a:pt x="657141" y="169948"/>
                  </a:lnTo>
                  <a:cubicBezTo>
                    <a:pt x="682747" y="184847"/>
                    <a:pt x="698500" y="212237"/>
                    <a:pt x="698500" y="241862"/>
                  </a:cubicBezTo>
                  <a:lnTo>
                    <a:pt x="698500" y="995601"/>
                  </a:lnTo>
                  <a:cubicBezTo>
                    <a:pt x="698500" y="1025226"/>
                    <a:pt x="682747" y="1052616"/>
                    <a:pt x="657141" y="1067514"/>
                  </a:cubicBezTo>
                  <a:lnTo>
                    <a:pt x="390609" y="1222587"/>
                  </a:lnTo>
                  <a:cubicBezTo>
                    <a:pt x="365043" y="1237463"/>
                    <a:pt x="333457" y="1237463"/>
                    <a:pt x="307891" y="1222587"/>
                  </a:cubicBezTo>
                  <a:lnTo>
                    <a:pt x="41359" y="1067514"/>
                  </a:lnTo>
                  <a:cubicBezTo>
                    <a:pt x="15753" y="1052616"/>
                    <a:pt x="0" y="1025226"/>
                    <a:pt x="0" y="995601"/>
                  </a:cubicBezTo>
                  <a:lnTo>
                    <a:pt x="0" y="241862"/>
                  </a:lnTo>
                  <a:cubicBezTo>
                    <a:pt x="0" y="212237"/>
                    <a:pt x="15753" y="184847"/>
                    <a:pt x="41359" y="169948"/>
                  </a:cubicBezTo>
                  <a:lnTo>
                    <a:pt x="307891" y="14876"/>
                  </a:lnTo>
                  <a:cubicBezTo>
                    <a:pt x="333457" y="0"/>
                    <a:pt x="365043" y="0"/>
                    <a:pt x="390609" y="14876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5400"/>
              <a:ext cx="698500" cy="1090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69443" y="2067340"/>
            <a:ext cx="4171277" cy="7499573"/>
            <a:chOff x="0" y="0"/>
            <a:chExt cx="698500" cy="12558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9188"/>
              <a:ext cx="698500" cy="1237462"/>
            </a:xfrm>
            <a:custGeom>
              <a:avLst/>
              <a:gdLst/>
              <a:ahLst/>
              <a:cxnLst/>
              <a:rect r="r" b="b" t="t" l="l"/>
              <a:pathLst>
                <a:path h="1237462" w="698500">
                  <a:moveTo>
                    <a:pt x="390609" y="14876"/>
                  </a:moveTo>
                  <a:lnTo>
                    <a:pt x="657141" y="169948"/>
                  </a:lnTo>
                  <a:cubicBezTo>
                    <a:pt x="682747" y="184847"/>
                    <a:pt x="698500" y="212237"/>
                    <a:pt x="698500" y="241862"/>
                  </a:cubicBezTo>
                  <a:lnTo>
                    <a:pt x="698500" y="995601"/>
                  </a:lnTo>
                  <a:cubicBezTo>
                    <a:pt x="698500" y="1025226"/>
                    <a:pt x="682747" y="1052616"/>
                    <a:pt x="657141" y="1067514"/>
                  </a:cubicBezTo>
                  <a:lnTo>
                    <a:pt x="390609" y="1222587"/>
                  </a:lnTo>
                  <a:cubicBezTo>
                    <a:pt x="365043" y="1237463"/>
                    <a:pt x="333457" y="1237463"/>
                    <a:pt x="307891" y="1222587"/>
                  </a:cubicBezTo>
                  <a:lnTo>
                    <a:pt x="41359" y="1067514"/>
                  </a:lnTo>
                  <a:cubicBezTo>
                    <a:pt x="15753" y="1052616"/>
                    <a:pt x="0" y="1025226"/>
                    <a:pt x="0" y="995601"/>
                  </a:cubicBezTo>
                  <a:lnTo>
                    <a:pt x="0" y="241862"/>
                  </a:lnTo>
                  <a:cubicBezTo>
                    <a:pt x="0" y="212237"/>
                    <a:pt x="15753" y="184847"/>
                    <a:pt x="41359" y="169948"/>
                  </a:cubicBezTo>
                  <a:lnTo>
                    <a:pt x="307891" y="14876"/>
                  </a:lnTo>
                  <a:cubicBezTo>
                    <a:pt x="333457" y="0"/>
                    <a:pt x="365043" y="0"/>
                    <a:pt x="390609" y="14876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5400"/>
              <a:ext cx="698500" cy="1090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39145" y="2067340"/>
            <a:ext cx="4171277" cy="7499573"/>
            <a:chOff x="0" y="0"/>
            <a:chExt cx="698500" cy="12558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9188"/>
              <a:ext cx="698500" cy="1237462"/>
            </a:xfrm>
            <a:custGeom>
              <a:avLst/>
              <a:gdLst/>
              <a:ahLst/>
              <a:cxnLst/>
              <a:rect r="r" b="b" t="t" l="l"/>
              <a:pathLst>
                <a:path h="1237462" w="698500">
                  <a:moveTo>
                    <a:pt x="390609" y="14876"/>
                  </a:moveTo>
                  <a:lnTo>
                    <a:pt x="657141" y="169948"/>
                  </a:lnTo>
                  <a:cubicBezTo>
                    <a:pt x="682747" y="184847"/>
                    <a:pt x="698500" y="212237"/>
                    <a:pt x="698500" y="241862"/>
                  </a:cubicBezTo>
                  <a:lnTo>
                    <a:pt x="698500" y="995601"/>
                  </a:lnTo>
                  <a:cubicBezTo>
                    <a:pt x="698500" y="1025226"/>
                    <a:pt x="682747" y="1052616"/>
                    <a:pt x="657141" y="1067514"/>
                  </a:cubicBezTo>
                  <a:lnTo>
                    <a:pt x="390609" y="1222587"/>
                  </a:lnTo>
                  <a:cubicBezTo>
                    <a:pt x="365043" y="1237463"/>
                    <a:pt x="333457" y="1237463"/>
                    <a:pt x="307891" y="1222587"/>
                  </a:cubicBezTo>
                  <a:lnTo>
                    <a:pt x="41359" y="1067514"/>
                  </a:lnTo>
                  <a:cubicBezTo>
                    <a:pt x="15753" y="1052616"/>
                    <a:pt x="0" y="1025226"/>
                    <a:pt x="0" y="995601"/>
                  </a:cubicBezTo>
                  <a:lnTo>
                    <a:pt x="0" y="241862"/>
                  </a:lnTo>
                  <a:cubicBezTo>
                    <a:pt x="0" y="212237"/>
                    <a:pt x="15753" y="184847"/>
                    <a:pt x="41359" y="169948"/>
                  </a:cubicBezTo>
                  <a:lnTo>
                    <a:pt x="307891" y="14876"/>
                  </a:lnTo>
                  <a:cubicBezTo>
                    <a:pt x="333457" y="0"/>
                    <a:pt x="365043" y="0"/>
                    <a:pt x="390609" y="14876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5400"/>
              <a:ext cx="698500" cy="1090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14673" y="2437907"/>
            <a:ext cx="1026709" cy="1194716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7421"/>
              <a:ext cx="698500" cy="777958"/>
            </a:xfrm>
            <a:custGeom>
              <a:avLst/>
              <a:gdLst/>
              <a:ahLst/>
              <a:cxnLst/>
              <a:rect r="r" b="b" t="t" l="l"/>
              <a:pathLst>
                <a:path h="777958" w="698500">
                  <a:moveTo>
                    <a:pt x="427665" y="28202"/>
                  </a:moveTo>
                  <a:lnTo>
                    <a:pt x="620085" y="140156"/>
                  </a:lnTo>
                  <a:cubicBezTo>
                    <a:pt x="668633" y="168402"/>
                    <a:pt x="698500" y="220333"/>
                    <a:pt x="698500" y="276501"/>
                  </a:cubicBezTo>
                  <a:lnTo>
                    <a:pt x="698500" y="501457"/>
                  </a:lnTo>
                  <a:cubicBezTo>
                    <a:pt x="698500" y="557625"/>
                    <a:pt x="668633" y="609556"/>
                    <a:pt x="620085" y="637802"/>
                  </a:cubicBezTo>
                  <a:lnTo>
                    <a:pt x="427665" y="749756"/>
                  </a:lnTo>
                  <a:cubicBezTo>
                    <a:pt x="379192" y="777958"/>
                    <a:pt x="319308" y="777958"/>
                    <a:pt x="270835" y="749756"/>
                  </a:cubicBezTo>
                  <a:lnTo>
                    <a:pt x="78415" y="637802"/>
                  </a:lnTo>
                  <a:cubicBezTo>
                    <a:pt x="29867" y="609556"/>
                    <a:pt x="0" y="557625"/>
                    <a:pt x="0" y="501457"/>
                  </a:cubicBezTo>
                  <a:lnTo>
                    <a:pt x="0" y="276501"/>
                  </a:lnTo>
                  <a:cubicBezTo>
                    <a:pt x="0" y="220333"/>
                    <a:pt x="29867" y="168402"/>
                    <a:pt x="78415" y="140156"/>
                  </a:cubicBezTo>
                  <a:lnTo>
                    <a:pt x="270835" y="28202"/>
                  </a:lnTo>
                  <a:cubicBezTo>
                    <a:pt x="319308" y="0"/>
                    <a:pt x="379192" y="0"/>
                    <a:pt x="427665" y="28202"/>
                  </a:cubicBezTo>
                  <a:close/>
                </a:path>
              </a:pathLst>
            </a:custGeom>
            <a:solidFill>
              <a:srgbClr val="EB831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10375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39549" y="2437907"/>
            <a:ext cx="1026709" cy="1194716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7421"/>
              <a:ext cx="698500" cy="777958"/>
            </a:xfrm>
            <a:custGeom>
              <a:avLst/>
              <a:gdLst/>
              <a:ahLst/>
              <a:cxnLst/>
              <a:rect r="r" b="b" t="t" l="l"/>
              <a:pathLst>
                <a:path h="777958" w="698500">
                  <a:moveTo>
                    <a:pt x="427665" y="28202"/>
                  </a:moveTo>
                  <a:lnTo>
                    <a:pt x="620085" y="140156"/>
                  </a:lnTo>
                  <a:cubicBezTo>
                    <a:pt x="668633" y="168402"/>
                    <a:pt x="698500" y="220333"/>
                    <a:pt x="698500" y="276501"/>
                  </a:cubicBezTo>
                  <a:lnTo>
                    <a:pt x="698500" y="501457"/>
                  </a:lnTo>
                  <a:cubicBezTo>
                    <a:pt x="698500" y="557625"/>
                    <a:pt x="668633" y="609556"/>
                    <a:pt x="620085" y="637802"/>
                  </a:cubicBezTo>
                  <a:lnTo>
                    <a:pt x="427665" y="749756"/>
                  </a:lnTo>
                  <a:cubicBezTo>
                    <a:pt x="379192" y="777958"/>
                    <a:pt x="319308" y="777958"/>
                    <a:pt x="270835" y="749756"/>
                  </a:cubicBezTo>
                  <a:lnTo>
                    <a:pt x="78415" y="637802"/>
                  </a:lnTo>
                  <a:cubicBezTo>
                    <a:pt x="29867" y="609556"/>
                    <a:pt x="0" y="557625"/>
                    <a:pt x="0" y="501457"/>
                  </a:cubicBezTo>
                  <a:lnTo>
                    <a:pt x="0" y="276501"/>
                  </a:lnTo>
                  <a:cubicBezTo>
                    <a:pt x="0" y="220333"/>
                    <a:pt x="29867" y="168402"/>
                    <a:pt x="78415" y="140156"/>
                  </a:cubicBezTo>
                  <a:lnTo>
                    <a:pt x="270835" y="28202"/>
                  </a:lnTo>
                  <a:cubicBezTo>
                    <a:pt x="319308" y="0"/>
                    <a:pt x="379192" y="0"/>
                    <a:pt x="427665" y="28202"/>
                  </a:cubicBezTo>
                  <a:close/>
                </a:path>
              </a:pathLst>
            </a:custGeom>
            <a:solidFill>
              <a:srgbClr val="EB831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10375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11429" y="2437907"/>
            <a:ext cx="1026709" cy="1194716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7421"/>
              <a:ext cx="698500" cy="777958"/>
            </a:xfrm>
            <a:custGeom>
              <a:avLst/>
              <a:gdLst/>
              <a:ahLst/>
              <a:cxnLst/>
              <a:rect r="r" b="b" t="t" l="l"/>
              <a:pathLst>
                <a:path h="777958" w="698500">
                  <a:moveTo>
                    <a:pt x="427665" y="28202"/>
                  </a:moveTo>
                  <a:lnTo>
                    <a:pt x="620085" y="140156"/>
                  </a:lnTo>
                  <a:cubicBezTo>
                    <a:pt x="668633" y="168402"/>
                    <a:pt x="698500" y="220333"/>
                    <a:pt x="698500" y="276501"/>
                  </a:cubicBezTo>
                  <a:lnTo>
                    <a:pt x="698500" y="501457"/>
                  </a:lnTo>
                  <a:cubicBezTo>
                    <a:pt x="698500" y="557625"/>
                    <a:pt x="668633" y="609556"/>
                    <a:pt x="620085" y="637802"/>
                  </a:cubicBezTo>
                  <a:lnTo>
                    <a:pt x="427665" y="749756"/>
                  </a:lnTo>
                  <a:cubicBezTo>
                    <a:pt x="379192" y="777958"/>
                    <a:pt x="319308" y="777958"/>
                    <a:pt x="270835" y="749756"/>
                  </a:cubicBezTo>
                  <a:lnTo>
                    <a:pt x="78415" y="637802"/>
                  </a:lnTo>
                  <a:cubicBezTo>
                    <a:pt x="29867" y="609556"/>
                    <a:pt x="0" y="557625"/>
                    <a:pt x="0" y="501457"/>
                  </a:cubicBezTo>
                  <a:lnTo>
                    <a:pt x="0" y="276501"/>
                  </a:lnTo>
                  <a:cubicBezTo>
                    <a:pt x="0" y="220333"/>
                    <a:pt x="29867" y="168402"/>
                    <a:pt x="78415" y="140156"/>
                  </a:cubicBezTo>
                  <a:lnTo>
                    <a:pt x="270835" y="28202"/>
                  </a:lnTo>
                  <a:cubicBezTo>
                    <a:pt x="319308" y="0"/>
                    <a:pt x="379192" y="0"/>
                    <a:pt x="427665" y="28202"/>
                  </a:cubicBezTo>
                  <a:close/>
                </a:path>
              </a:pathLst>
            </a:custGeom>
            <a:solidFill>
              <a:srgbClr val="EB831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10375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913800" y="627836"/>
            <a:ext cx="1046040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STAGES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1083387" y="-1737431"/>
            <a:ext cx="5187285" cy="4901984"/>
          </a:xfrm>
          <a:custGeom>
            <a:avLst/>
            <a:gdLst/>
            <a:ahLst/>
            <a:cxnLst/>
            <a:rect r="r" b="b" t="t" l="l"/>
            <a:pathLst>
              <a:path h="4901984" w="5187285">
                <a:moveTo>
                  <a:pt x="0" y="0"/>
                </a:moveTo>
                <a:lnTo>
                  <a:pt x="5187285" y="0"/>
                </a:lnTo>
                <a:lnTo>
                  <a:pt x="5187285" y="4901984"/>
                </a:lnTo>
                <a:lnTo>
                  <a:pt x="0" y="490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5298765" y="129277"/>
            <a:ext cx="2074362" cy="2189300"/>
          </a:xfrm>
          <a:custGeom>
            <a:avLst/>
            <a:gdLst/>
            <a:ahLst/>
            <a:cxnLst/>
            <a:rect r="r" b="b" t="t" l="l"/>
            <a:pathLst>
              <a:path h="2189300" w="2074362">
                <a:moveTo>
                  <a:pt x="0" y="0"/>
                </a:moveTo>
                <a:lnTo>
                  <a:pt x="2074363" y="0"/>
                </a:lnTo>
                <a:lnTo>
                  <a:pt x="2074363" y="2189300"/>
                </a:lnTo>
                <a:lnTo>
                  <a:pt x="0" y="2189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1828988">
            <a:off x="16283321" y="19386"/>
            <a:ext cx="3155457" cy="2977963"/>
          </a:xfrm>
          <a:custGeom>
            <a:avLst/>
            <a:gdLst/>
            <a:ahLst/>
            <a:cxnLst/>
            <a:rect r="r" b="b" t="t" l="l"/>
            <a:pathLst>
              <a:path h="2977963" w="3155457">
                <a:moveTo>
                  <a:pt x="0" y="0"/>
                </a:moveTo>
                <a:lnTo>
                  <a:pt x="3155457" y="0"/>
                </a:lnTo>
                <a:lnTo>
                  <a:pt x="3155457" y="2977963"/>
                </a:lnTo>
                <a:lnTo>
                  <a:pt x="0" y="29779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202150" y="5004527"/>
            <a:ext cx="730152" cy="737528"/>
          </a:xfrm>
          <a:custGeom>
            <a:avLst/>
            <a:gdLst/>
            <a:ahLst/>
            <a:cxnLst/>
            <a:rect r="r" b="b" t="t" l="l"/>
            <a:pathLst>
              <a:path h="737528" w="730152">
                <a:moveTo>
                  <a:pt x="0" y="0"/>
                </a:moveTo>
                <a:lnTo>
                  <a:pt x="730152" y="0"/>
                </a:lnTo>
                <a:lnTo>
                  <a:pt x="730152" y="737527"/>
                </a:lnTo>
                <a:lnTo>
                  <a:pt x="0" y="7375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191975" y="4563508"/>
            <a:ext cx="3519035" cy="264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0"/>
              </a:lnSpc>
            </a:pPr>
            <a:r>
              <a:rPr lang="en-US" sz="3707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Transformation &amp; Master Table Creation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8510" y="4563508"/>
            <a:ext cx="3519035" cy="264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0"/>
              </a:lnSpc>
            </a:pPr>
            <a:r>
              <a:rPr lang="en-US" sz="3707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Understanding, EDA, and Cleaning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65266" y="4563508"/>
            <a:ext cx="3519035" cy="330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0"/>
              </a:lnSpc>
            </a:pPr>
            <a:r>
              <a:rPr lang="en-US" sz="3707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Development of Data Visualizations in Looker Studio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01348" y="4032814"/>
            <a:ext cx="3509662" cy="7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1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Week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7882" y="4032814"/>
            <a:ext cx="3509662" cy="7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1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Week 1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74639" y="4032814"/>
            <a:ext cx="3509662" cy="7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1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Week 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621339" y="2067340"/>
            <a:ext cx="4171277" cy="7499573"/>
            <a:chOff x="0" y="0"/>
            <a:chExt cx="698500" cy="12558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9188"/>
              <a:ext cx="698500" cy="1237462"/>
            </a:xfrm>
            <a:custGeom>
              <a:avLst/>
              <a:gdLst/>
              <a:ahLst/>
              <a:cxnLst/>
              <a:rect r="r" b="b" t="t" l="l"/>
              <a:pathLst>
                <a:path h="1237462" w="698500">
                  <a:moveTo>
                    <a:pt x="390609" y="14876"/>
                  </a:moveTo>
                  <a:lnTo>
                    <a:pt x="657141" y="169948"/>
                  </a:lnTo>
                  <a:cubicBezTo>
                    <a:pt x="682747" y="184847"/>
                    <a:pt x="698500" y="212237"/>
                    <a:pt x="698500" y="241862"/>
                  </a:cubicBezTo>
                  <a:lnTo>
                    <a:pt x="698500" y="995601"/>
                  </a:lnTo>
                  <a:cubicBezTo>
                    <a:pt x="698500" y="1025226"/>
                    <a:pt x="682747" y="1052616"/>
                    <a:pt x="657141" y="1067514"/>
                  </a:cubicBezTo>
                  <a:lnTo>
                    <a:pt x="390609" y="1222587"/>
                  </a:lnTo>
                  <a:cubicBezTo>
                    <a:pt x="365043" y="1237463"/>
                    <a:pt x="333457" y="1237463"/>
                    <a:pt x="307891" y="1222587"/>
                  </a:cubicBezTo>
                  <a:lnTo>
                    <a:pt x="41359" y="1067514"/>
                  </a:lnTo>
                  <a:cubicBezTo>
                    <a:pt x="15753" y="1052616"/>
                    <a:pt x="0" y="1025226"/>
                    <a:pt x="0" y="995601"/>
                  </a:cubicBezTo>
                  <a:lnTo>
                    <a:pt x="0" y="241862"/>
                  </a:lnTo>
                  <a:cubicBezTo>
                    <a:pt x="0" y="212237"/>
                    <a:pt x="15753" y="184847"/>
                    <a:pt x="41359" y="169948"/>
                  </a:cubicBezTo>
                  <a:lnTo>
                    <a:pt x="307891" y="14876"/>
                  </a:lnTo>
                  <a:cubicBezTo>
                    <a:pt x="333457" y="0"/>
                    <a:pt x="365043" y="0"/>
                    <a:pt x="390609" y="14876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5400"/>
              <a:ext cx="698500" cy="1090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182330" y="2290279"/>
            <a:ext cx="1026709" cy="1194716"/>
            <a:chOff x="0" y="0"/>
            <a:chExt cx="6985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17421"/>
              <a:ext cx="698500" cy="777958"/>
            </a:xfrm>
            <a:custGeom>
              <a:avLst/>
              <a:gdLst/>
              <a:ahLst/>
              <a:cxnLst/>
              <a:rect r="r" b="b" t="t" l="l"/>
              <a:pathLst>
                <a:path h="777958" w="698500">
                  <a:moveTo>
                    <a:pt x="427665" y="28202"/>
                  </a:moveTo>
                  <a:lnTo>
                    <a:pt x="620085" y="140156"/>
                  </a:lnTo>
                  <a:cubicBezTo>
                    <a:pt x="668633" y="168402"/>
                    <a:pt x="698500" y="220333"/>
                    <a:pt x="698500" y="276501"/>
                  </a:cubicBezTo>
                  <a:lnTo>
                    <a:pt x="698500" y="501457"/>
                  </a:lnTo>
                  <a:cubicBezTo>
                    <a:pt x="698500" y="557625"/>
                    <a:pt x="668633" y="609556"/>
                    <a:pt x="620085" y="637802"/>
                  </a:cubicBezTo>
                  <a:lnTo>
                    <a:pt x="427665" y="749756"/>
                  </a:lnTo>
                  <a:cubicBezTo>
                    <a:pt x="379192" y="777958"/>
                    <a:pt x="319308" y="777958"/>
                    <a:pt x="270835" y="749756"/>
                  </a:cubicBezTo>
                  <a:lnTo>
                    <a:pt x="78415" y="637802"/>
                  </a:lnTo>
                  <a:cubicBezTo>
                    <a:pt x="29867" y="609556"/>
                    <a:pt x="0" y="557625"/>
                    <a:pt x="0" y="501457"/>
                  </a:cubicBezTo>
                  <a:lnTo>
                    <a:pt x="0" y="276501"/>
                  </a:lnTo>
                  <a:cubicBezTo>
                    <a:pt x="0" y="220333"/>
                    <a:pt x="29867" y="168402"/>
                    <a:pt x="78415" y="140156"/>
                  </a:cubicBezTo>
                  <a:lnTo>
                    <a:pt x="270835" y="28202"/>
                  </a:lnTo>
                  <a:cubicBezTo>
                    <a:pt x="319308" y="0"/>
                    <a:pt x="379192" y="0"/>
                    <a:pt x="427665" y="28202"/>
                  </a:cubicBezTo>
                  <a:close/>
                </a:path>
              </a:pathLst>
            </a:custGeom>
            <a:solidFill>
              <a:srgbClr val="EB831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10375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947459" y="4563508"/>
            <a:ext cx="3519035" cy="264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0"/>
              </a:lnSpc>
            </a:pPr>
            <a:r>
              <a:rPr lang="en-US" sz="3707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Compilation of Findings &amp; Final Presentation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56832" y="4032814"/>
            <a:ext cx="3509662" cy="7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1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Week 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4101" y="8210085"/>
            <a:ext cx="3464895" cy="4031878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9956"/>
              <a:ext cx="698500" cy="792889"/>
            </a:xfrm>
            <a:custGeom>
              <a:avLst/>
              <a:gdLst/>
              <a:ahLst/>
              <a:cxnLst/>
              <a:rect r="r" b="b" t="t" l="l"/>
              <a:pathLst>
                <a:path h="792889" w="698500">
                  <a:moveTo>
                    <a:pt x="394062" y="16116"/>
                  </a:moveTo>
                  <a:lnTo>
                    <a:pt x="653688" y="167172"/>
                  </a:lnTo>
                  <a:cubicBezTo>
                    <a:pt x="681432" y="183314"/>
                    <a:pt x="698500" y="212991"/>
                    <a:pt x="698500" y="245089"/>
                  </a:cubicBezTo>
                  <a:lnTo>
                    <a:pt x="698500" y="547799"/>
                  </a:lnTo>
                  <a:cubicBezTo>
                    <a:pt x="698500" y="579897"/>
                    <a:pt x="681432" y="609574"/>
                    <a:pt x="653688" y="625716"/>
                  </a:cubicBezTo>
                  <a:lnTo>
                    <a:pt x="394062" y="776772"/>
                  </a:lnTo>
                  <a:cubicBezTo>
                    <a:pt x="366361" y="792889"/>
                    <a:pt x="332139" y="792889"/>
                    <a:pt x="304438" y="776772"/>
                  </a:cubicBezTo>
                  <a:lnTo>
                    <a:pt x="44812" y="625716"/>
                  </a:lnTo>
                  <a:cubicBezTo>
                    <a:pt x="17068" y="609574"/>
                    <a:pt x="0" y="579897"/>
                    <a:pt x="0" y="547799"/>
                  </a:cubicBezTo>
                  <a:lnTo>
                    <a:pt x="0" y="245089"/>
                  </a:lnTo>
                  <a:cubicBezTo>
                    <a:pt x="0" y="212991"/>
                    <a:pt x="17068" y="183314"/>
                    <a:pt x="44812" y="167172"/>
                  </a:cubicBezTo>
                  <a:lnTo>
                    <a:pt x="304438" y="16116"/>
                  </a:lnTo>
                  <a:cubicBezTo>
                    <a:pt x="332139" y="0"/>
                    <a:pt x="366361" y="0"/>
                    <a:pt x="394062" y="1611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375C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102996" y="-2214986"/>
            <a:ext cx="6231517" cy="6727683"/>
          </a:xfrm>
          <a:custGeom>
            <a:avLst/>
            <a:gdLst/>
            <a:ahLst/>
            <a:cxnLst/>
            <a:rect r="r" b="b" t="t" l="l"/>
            <a:pathLst>
              <a:path h="6727683" w="6231517">
                <a:moveTo>
                  <a:pt x="0" y="0"/>
                </a:moveTo>
                <a:lnTo>
                  <a:pt x="6231517" y="0"/>
                </a:lnTo>
                <a:lnTo>
                  <a:pt x="6231517" y="6727684"/>
                </a:lnTo>
                <a:lnTo>
                  <a:pt x="0" y="6727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1814523">
            <a:off x="-1525927" y="7814392"/>
            <a:ext cx="3051853" cy="2887816"/>
          </a:xfrm>
          <a:custGeom>
            <a:avLst/>
            <a:gdLst/>
            <a:ahLst/>
            <a:cxnLst/>
            <a:rect r="r" b="b" t="t" l="l"/>
            <a:pathLst>
              <a:path h="2887816" w="3051853">
                <a:moveTo>
                  <a:pt x="0" y="0"/>
                </a:moveTo>
                <a:lnTo>
                  <a:pt x="3051854" y="0"/>
                </a:lnTo>
                <a:lnTo>
                  <a:pt x="3051854" y="2887816"/>
                </a:lnTo>
                <a:lnTo>
                  <a:pt x="0" y="2887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9736" y="9544050"/>
            <a:ext cx="1812357" cy="1579016"/>
          </a:xfrm>
          <a:custGeom>
            <a:avLst/>
            <a:gdLst/>
            <a:ahLst/>
            <a:cxnLst/>
            <a:rect r="r" b="b" t="t" l="l"/>
            <a:pathLst>
              <a:path h="1579016" w="1812357">
                <a:moveTo>
                  <a:pt x="0" y="0"/>
                </a:moveTo>
                <a:lnTo>
                  <a:pt x="1812358" y="0"/>
                </a:lnTo>
                <a:lnTo>
                  <a:pt x="1812358" y="1579016"/>
                </a:lnTo>
                <a:lnTo>
                  <a:pt x="0" y="15790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1313422"/>
            <a:ext cx="684478" cy="1366436"/>
          </a:xfrm>
          <a:custGeom>
            <a:avLst/>
            <a:gdLst/>
            <a:ahLst/>
            <a:cxnLst/>
            <a:rect r="r" b="b" t="t" l="l"/>
            <a:pathLst>
              <a:path h="1366436" w="684478">
                <a:moveTo>
                  <a:pt x="0" y="0"/>
                </a:moveTo>
                <a:lnTo>
                  <a:pt x="684478" y="0"/>
                </a:lnTo>
                <a:lnTo>
                  <a:pt x="684478" y="1366436"/>
                </a:lnTo>
                <a:lnTo>
                  <a:pt x="0" y="13664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2968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45312" y="3047584"/>
            <a:ext cx="9742257" cy="5673993"/>
          </a:xfrm>
          <a:custGeom>
            <a:avLst/>
            <a:gdLst/>
            <a:ahLst/>
            <a:cxnLst/>
            <a:rect r="r" b="b" t="t" l="l"/>
            <a:pathLst>
              <a:path h="5673993" w="9742257">
                <a:moveTo>
                  <a:pt x="0" y="0"/>
                </a:moveTo>
                <a:lnTo>
                  <a:pt x="9742258" y="0"/>
                </a:lnTo>
                <a:lnTo>
                  <a:pt x="9742258" y="5673993"/>
                </a:lnTo>
                <a:lnTo>
                  <a:pt x="0" y="56739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4395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727943"/>
            <a:ext cx="7116612" cy="54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2368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Performance Indicators</a:t>
            </a:r>
          </a:p>
          <a:p>
            <a:pPr algn="l">
              <a:lnSpc>
                <a:spcPts val="3316"/>
              </a:lnSpc>
            </a:pPr>
            <a:r>
              <a:rPr lang="en-US" sz="2368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platform demonstrates substantial operational scale:</a:t>
            </a:r>
          </a:p>
          <a:p>
            <a:pPr algn="l" marL="511402" indent="-255701" lvl="1">
              <a:lnSpc>
                <a:spcPts val="3316"/>
              </a:lnSpc>
              <a:buFont typeface="Arial"/>
              <a:buChar char="•"/>
            </a:pPr>
            <a:r>
              <a:rPr lang="en-US" b="true" sz="2368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Opportunities Available: 187 programs</a:t>
            </a:r>
          </a:p>
          <a:p>
            <a:pPr algn="l" marL="511402" indent="-255701" lvl="1">
              <a:lnSpc>
                <a:spcPts val="3316"/>
              </a:lnSpc>
              <a:buFont typeface="Arial"/>
              <a:buChar char="•"/>
            </a:pPr>
            <a:r>
              <a:rPr lang="en-US" b="true" sz="2368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Marketing Investment: 340,830 AED</a:t>
            </a:r>
          </a:p>
          <a:p>
            <a:pPr algn="l" marL="511402" indent="-255701" lvl="1">
              <a:lnSpc>
                <a:spcPts val="3316"/>
              </a:lnSpc>
              <a:buFont typeface="Arial"/>
              <a:buChar char="•"/>
            </a:pPr>
            <a:r>
              <a:rPr lang="en-US" b="true" sz="2368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Marketing Results: 365,031,956 outcomes</a:t>
            </a:r>
          </a:p>
          <a:p>
            <a:pPr algn="l" marL="511402" indent="-255701" lvl="1">
              <a:lnSpc>
                <a:spcPts val="3316"/>
              </a:lnSpc>
              <a:buFont typeface="Arial"/>
              <a:buChar char="•"/>
            </a:pPr>
            <a:r>
              <a:rPr lang="en-US" b="true" sz="2368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Cohort Participants: 3,668,770 learners</a:t>
            </a:r>
          </a:p>
          <a:p>
            <a:pPr algn="l" marL="511402" indent="-255701" lvl="1">
              <a:lnSpc>
                <a:spcPts val="3316"/>
              </a:lnSpc>
              <a:buFont typeface="Arial"/>
              <a:buChar char="•"/>
            </a:pPr>
            <a:r>
              <a:rPr lang="en-US" b="true" sz="2368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Global Market Coverage: 154 countries</a:t>
            </a:r>
          </a:p>
          <a:p>
            <a:pPr algn="l">
              <a:lnSpc>
                <a:spcPts val="3316"/>
              </a:lnSpc>
            </a:pPr>
            <a:r>
              <a:rPr lang="en-US" sz="2368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Opportunity Portfolio Analysis</a:t>
            </a:r>
          </a:p>
          <a:p>
            <a:pPr algn="l">
              <a:lnSpc>
                <a:spcPts val="331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10731"/>
            <a:ext cx="7116612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33616" y="4169946"/>
            <a:ext cx="4069427" cy="7901800"/>
          </a:xfrm>
          <a:custGeom>
            <a:avLst/>
            <a:gdLst/>
            <a:ahLst/>
            <a:cxnLst/>
            <a:rect r="r" b="b" t="t" l="l"/>
            <a:pathLst>
              <a:path h="7901800" w="4069427">
                <a:moveTo>
                  <a:pt x="0" y="0"/>
                </a:moveTo>
                <a:lnTo>
                  <a:pt x="4069427" y="0"/>
                </a:lnTo>
                <a:lnTo>
                  <a:pt x="4069427" y="7901800"/>
                </a:lnTo>
                <a:lnTo>
                  <a:pt x="0" y="7901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1525357" y="4075958"/>
            <a:ext cx="6952151" cy="8089775"/>
            <a:chOff x="0" y="0"/>
            <a:chExt cx="6985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8270"/>
              <a:ext cx="698500" cy="796261"/>
            </a:xfrm>
            <a:custGeom>
              <a:avLst/>
              <a:gdLst/>
              <a:ahLst/>
              <a:cxnLst/>
              <a:rect r="r" b="b" t="t" l="l"/>
              <a:pathLst>
                <a:path h="796261" w="698500">
                  <a:moveTo>
                    <a:pt x="386473" y="13387"/>
                  </a:moveTo>
                  <a:lnTo>
                    <a:pt x="661277" y="173273"/>
                  </a:lnTo>
                  <a:cubicBezTo>
                    <a:pt x="684322" y="186681"/>
                    <a:pt x="698500" y="211333"/>
                    <a:pt x="698500" y="237995"/>
                  </a:cubicBezTo>
                  <a:lnTo>
                    <a:pt x="698500" y="558265"/>
                  </a:lnTo>
                  <a:cubicBezTo>
                    <a:pt x="698500" y="584927"/>
                    <a:pt x="684322" y="609579"/>
                    <a:pt x="661277" y="622987"/>
                  </a:cubicBezTo>
                  <a:lnTo>
                    <a:pt x="386473" y="782873"/>
                  </a:lnTo>
                  <a:cubicBezTo>
                    <a:pt x="363463" y="796260"/>
                    <a:pt x="335037" y="796260"/>
                    <a:pt x="312027" y="782873"/>
                  </a:cubicBezTo>
                  <a:lnTo>
                    <a:pt x="37223" y="622987"/>
                  </a:lnTo>
                  <a:cubicBezTo>
                    <a:pt x="14178" y="609579"/>
                    <a:pt x="0" y="584927"/>
                    <a:pt x="0" y="558265"/>
                  </a:cubicBezTo>
                  <a:lnTo>
                    <a:pt x="0" y="237995"/>
                  </a:lnTo>
                  <a:cubicBezTo>
                    <a:pt x="0" y="211333"/>
                    <a:pt x="14178" y="186681"/>
                    <a:pt x="37223" y="173273"/>
                  </a:cubicBezTo>
                  <a:lnTo>
                    <a:pt x="312027" y="13387"/>
                  </a:lnTo>
                  <a:cubicBezTo>
                    <a:pt x="335037" y="0"/>
                    <a:pt x="363463" y="0"/>
                    <a:pt x="386473" y="13387"/>
                  </a:cubicBezTo>
                  <a:close/>
                </a:path>
              </a:pathLst>
            </a:custGeom>
            <a:blipFill>
              <a:blip r:embed="rId5"/>
              <a:stretch>
                <a:fillRect l="-34672" t="0" r="-3467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71211" y="-1376587"/>
            <a:ext cx="3250692" cy="4114800"/>
          </a:xfrm>
          <a:custGeom>
            <a:avLst/>
            <a:gdLst/>
            <a:ahLst/>
            <a:cxnLst/>
            <a:rect r="r" b="b" t="t" l="l"/>
            <a:pathLst>
              <a:path h="4114800" w="3250692">
                <a:moveTo>
                  <a:pt x="0" y="0"/>
                </a:moveTo>
                <a:lnTo>
                  <a:pt x="3250692" y="0"/>
                </a:lnTo>
                <a:lnTo>
                  <a:pt x="3250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596369" y="7734388"/>
            <a:ext cx="1826982" cy="2093962"/>
          </a:xfrm>
          <a:custGeom>
            <a:avLst/>
            <a:gdLst/>
            <a:ahLst/>
            <a:cxnLst/>
            <a:rect r="r" b="b" t="t" l="l"/>
            <a:pathLst>
              <a:path h="2093962" w="1826982">
                <a:moveTo>
                  <a:pt x="0" y="0"/>
                </a:moveTo>
                <a:lnTo>
                  <a:pt x="1826982" y="0"/>
                </a:lnTo>
                <a:lnTo>
                  <a:pt x="1826982" y="2093962"/>
                </a:lnTo>
                <a:lnTo>
                  <a:pt x="0" y="2093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90833">
            <a:off x="16803688" y="8463678"/>
            <a:ext cx="2361883" cy="2428671"/>
          </a:xfrm>
          <a:custGeom>
            <a:avLst/>
            <a:gdLst/>
            <a:ahLst/>
            <a:cxnLst/>
            <a:rect r="r" b="b" t="t" l="l"/>
            <a:pathLst>
              <a:path h="2428671" w="2361883">
                <a:moveTo>
                  <a:pt x="0" y="0"/>
                </a:moveTo>
                <a:lnTo>
                  <a:pt x="2361883" y="0"/>
                </a:lnTo>
                <a:lnTo>
                  <a:pt x="2361883" y="2428671"/>
                </a:lnTo>
                <a:lnTo>
                  <a:pt x="0" y="24286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83133" y="4379100"/>
            <a:ext cx="576167" cy="764400"/>
          </a:xfrm>
          <a:custGeom>
            <a:avLst/>
            <a:gdLst/>
            <a:ahLst/>
            <a:cxnLst/>
            <a:rect r="r" b="b" t="t" l="l"/>
            <a:pathLst>
              <a:path h="764400" w="576167">
                <a:moveTo>
                  <a:pt x="0" y="0"/>
                </a:moveTo>
                <a:lnTo>
                  <a:pt x="576167" y="0"/>
                </a:lnTo>
                <a:lnTo>
                  <a:pt x="576167" y="764400"/>
                </a:lnTo>
                <a:lnTo>
                  <a:pt x="0" y="764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46229" y="847275"/>
            <a:ext cx="15562896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Marketing Campaign P</a:t>
            </a:r>
            <a:r>
              <a:rPr lang="en-US" b="true" sz="6000" strike="noStrike" u="non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er</a:t>
            </a:r>
            <a:r>
              <a:rPr lang="en-US" b="true" sz="6000" strike="noStrike" u="non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formanc</a:t>
            </a:r>
            <a:r>
              <a:rPr lang="en-US" b="true" sz="6000" strike="noStrike" u="non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graphicFrame>
        <p:nvGraphicFramePr>
          <p:cNvPr name="Object 11" id="11"/>
          <p:cNvGraphicFramePr/>
          <p:nvPr/>
        </p:nvGraphicFramePr>
        <p:xfrm>
          <a:off x="7887825" y="3992123"/>
          <a:ext cx="2514600" cy="2095500"/>
        </p:xfrm>
        <a:graphic>
          <a:graphicData uri="http://schemas.openxmlformats.org/presentationml/2006/ole">
            <p:oleObj imgW="3009900" imgH="2590800" r:id="rId1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31196" y="8133873"/>
            <a:ext cx="3301152" cy="3841340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5418"/>
              <a:ext cx="698500" cy="801964"/>
            </a:xfrm>
            <a:custGeom>
              <a:avLst/>
              <a:gdLst/>
              <a:ahLst/>
              <a:cxnLst/>
              <a:rect r="r" b="b" t="t" l="l"/>
              <a:pathLst>
                <a:path h="801964" w="698500">
                  <a:moveTo>
                    <a:pt x="373638" y="8772"/>
                  </a:moveTo>
                  <a:lnTo>
                    <a:pt x="674112" y="183592"/>
                  </a:lnTo>
                  <a:cubicBezTo>
                    <a:pt x="689211" y="192377"/>
                    <a:pt x="698500" y="208529"/>
                    <a:pt x="698500" y="225998"/>
                  </a:cubicBezTo>
                  <a:lnTo>
                    <a:pt x="698500" y="575966"/>
                  </a:lnTo>
                  <a:cubicBezTo>
                    <a:pt x="698500" y="593435"/>
                    <a:pt x="689211" y="609587"/>
                    <a:pt x="674112" y="618372"/>
                  </a:cubicBezTo>
                  <a:lnTo>
                    <a:pt x="373638" y="793192"/>
                  </a:lnTo>
                  <a:cubicBezTo>
                    <a:pt x="358562" y="801964"/>
                    <a:pt x="339938" y="801964"/>
                    <a:pt x="324862" y="793192"/>
                  </a:cubicBezTo>
                  <a:lnTo>
                    <a:pt x="24388" y="618372"/>
                  </a:lnTo>
                  <a:cubicBezTo>
                    <a:pt x="9289" y="609587"/>
                    <a:pt x="0" y="593435"/>
                    <a:pt x="0" y="575966"/>
                  </a:cubicBezTo>
                  <a:lnTo>
                    <a:pt x="0" y="225998"/>
                  </a:lnTo>
                  <a:cubicBezTo>
                    <a:pt x="0" y="208529"/>
                    <a:pt x="9289" y="192377"/>
                    <a:pt x="24388" y="183592"/>
                  </a:cubicBezTo>
                  <a:lnTo>
                    <a:pt x="324862" y="8772"/>
                  </a:lnTo>
                  <a:cubicBezTo>
                    <a:pt x="339938" y="0"/>
                    <a:pt x="358562" y="0"/>
                    <a:pt x="373638" y="8772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06463" y="288257"/>
            <a:ext cx="12908774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Cohort Size Dis</a:t>
            </a:r>
            <a:r>
              <a:rPr lang="en-US" b="true" sz="8000" strike="noStrike" u="non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tr</a:t>
            </a:r>
            <a:r>
              <a:rPr lang="en-US" b="true" sz="8000" strike="noStrike" u="non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ib</a:t>
            </a:r>
            <a:r>
              <a:rPr lang="en-US" b="true" sz="8000" strike="noStrike" u="non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ution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31196" y="-1704262"/>
            <a:ext cx="3713607" cy="4114800"/>
          </a:xfrm>
          <a:custGeom>
            <a:avLst/>
            <a:gdLst/>
            <a:ahLst/>
            <a:cxnLst/>
            <a:rect r="r" b="b" t="t" l="l"/>
            <a:pathLst>
              <a:path h="4114800" w="3713607">
                <a:moveTo>
                  <a:pt x="0" y="0"/>
                </a:moveTo>
                <a:lnTo>
                  <a:pt x="3713608" y="0"/>
                </a:lnTo>
                <a:lnTo>
                  <a:pt x="3713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780981">
            <a:off x="-1948324" y="-812038"/>
            <a:ext cx="2916836" cy="2927815"/>
          </a:xfrm>
          <a:custGeom>
            <a:avLst/>
            <a:gdLst/>
            <a:ahLst/>
            <a:cxnLst/>
            <a:rect r="r" b="b" t="t" l="l"/>
            <a:pathLst>
              <a:path h="2927815" w="2916836">
                <a:moveTo>
                  <a:pt x="0" y="0"/>
                </a:moveTo>
                <a:lnTo>
                  <a:pt x="2916836" y="0"/>
                </a:lnTo>
                <a:lnTo>
                  <a:pt x="2916836" y="2927815"/>
                </a:lnTo>
                <a:lnTo>
                  <a:pt x="0" y="2927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92836" y="1593182"/>
            <a:ext cx="1585672" cy="1634713"/>
          </a:xfrm>
          <a:custGeom>
            <a:avLst/>
            <a:gdLst/>
            <a:ahLst/>
            <a:cxnLst/>
            <a:rect r="r" b="b" t="t" l="l"/>
            <a:pathLst>
              <a:path h="1634713" w="1585672">
                <a:moveTo>
                  <a:pt x="0" y="0"/>
                </a:moveTo>
                <a:lnTo>
                  <a:pt x="1585672" y="0"/>
                </a:lnTo>
                <a:lnTo>
                  <a:pt x="1585672" y="1634713"/>
                </a:lnTo>
                <a:lnTo>
                  <a:pt x="0" y="1634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29183" y="8602240"/>
            <a:ext cx="639658" cy="656060"/>
          </a:xfrm>
          <a:custGeom>
            <a:avLst/>
            <a:gdLst/>
            <a:ahLst/>
            <a:cxnLst/>
            <a:rect r="r" b="b" t="t" l="l"/>
            <a:pathLst>
              <a:path h="656060" w="639658">
                <a:moveTo>
                  <a:pt x="0" y="0"/>
                </a:moveTo>
                <a:lnTo>
                  <a:pt x="639658" y="0"/>
                </a:lnTo>
                <a:lnTo>
                  <a:pt x="639658" y="656060"/>
                </a:lnTo>
                <a:lnTo>
                  <a:pt x="0" y="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90625" t="-93333" r="-92405" b="-8540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78234" y="1791859"/>
            <a:ext cx="12074103" cy="8044371"/>
          </a:xfrm>
          <a:custGeom>
            <a:avLst/>
            <a:gdLst/>
            <a:ahLst/>
            <a:cxnLst/>
            <a:rect r="r" b="b" t="t" l="l"/>
            <a:pathLst>
              <a:path h="8044371" w="12074103">
                <a:moveTo>
                  <a:pt x="0" y="0"/>
                </a:moveTo>
                <a:lnTo>
                  <a:pt x="12074103" y="0"/>
                </a:lnTo>
                <a:lnTo>
                  <a:pt x="12074103" y="8044371"/>
                </a:lnTo>
                <a:lnTo>
                  <a:pt x="0" y="80443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1718" y="3095052"/>
            <a:ext cx="389809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Most cohorts fall in the 501–1,000 and 1,000–5,000 participants range.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Very few cohorts exceed 10,000 or are under 100.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2410" y="194872"/>
            <a:ext cx="11825331" cy="4755639"/>
            <a:chOff x="0" y="0"/>
            <a:chExt cx="2331307" cy="9375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828" y="0"/>
              <a:ext cx="2325651" cy="937551"/>
            </a:xfrm>
            <a:custGeom>
              <a:avLst/>
              <a:gdLst/>
              <a:ahLst/>
              <a:cxnLst/>
              <a:rect r="r" b="b" t="t" l="l"/>
              <a:pathLst>
                <a:path h="937551" w="2325651">
                  <a:moveTo>
                    <a:pt x="2320667" y="486796"/>
                  </a:moveTo>
                  <a:lnTo>
                    <a:pt x="2133090" y="919531"/>
                  </a:lnTo>
                  <a:cubicBezTo>
                    <a:pt x="2128348" y="930471"/>
                    <a:pt x="2117562" y="937551"/>
                    <a:pt x="2105638" y="937551"/>
                  </a:cubicBezTo>
                  <a:lnTo>
                    <a:pt x="220013" y="937551"/>
                  </a:lnTo>
                  <a:cubicBezTo>
                    <a:pt x="208089" y="937551"/>
                    <a:pt x="197303" y="930471"/>
                    <a:pt x="192561" y="919531"/>
                  </a:cubicBezTo>
                  <a:lnTo>
                    <a:pt x="4983" y="486796"/>
                  </a:lnTo>
                  <a:cubicBezTo>
                    <a:pt x="0" y="475299"/>
                    <a:pt x="0" y="462252"/>
                    <a:pt x="4983" y="450755"/>
                  </a:cubicBezTo>
                  <a:lnTo>
                    <a:pt x="192561" y="18021"/>
                  </a:lnTo>
                  <a:cubicBezTo>
                    <a:pt x="197303" y="7080"/>
                    <a:pt x="208089" y="0"/>
                    <a:pt x="220013" y="0"/>
                  </a:cubicBezTo>
                  <a:lnTo>
                    <a:pt x="2105638" y="0"/>
                  </a:lnTo>
                  <a:cubicBezTo>
                    <a:pt x="2117562" y="0"/>
                    <a:pt x="2128348" y="7080"/>
                    <a:pt x="2133090" y="18021"/>
                  </a:cubicBezTo>
                  <a:lnTo>
                    <a:pt x="2320667" y="450755"/>
                  </a:lnTo>
                  <a:cubicBezTo>
                    <a:pt x="2325651" y="462252"/>
                    <a:pt x="2325651" y="475299"/>
                    <a:pt x="2320667" y="486796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66675"/>
              <a:ext cx="2102707" cy="1004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93813" y="5207687"/>
            <a:ext cx="11825331" cy="4838336"/>
            <a:chOff x="0" y="0"/>
            <a:chExt cx="2331307" cy="9538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80" y="0"/>
              <a:ext cx="2325746" cy="953854"/>
            </a:xfrm>
            <a:custGeom>
              <a:avLst/>
              <a:gdLst/>
              <a:ahLst/>
              <a:cxnLst/>
              <a:rect r="r" b="b" t="t" l="l"/>
              <a:pathLst>
                <a:path h="953854" w="2325746">
                  <a:moveTo>
                    <a:pt x="2320828" y="494996"/>
                  </a:moveTo>
                  <a:lnTo>
                    <a:pt x="2133025" y="935785"/>
                  </a:lnTo>
                  <a:cubicBezTo>
                    <a:pt x="2128356" y="946743"/>
                    <a:pt x="2117597" y="953854"/>
                    <a:pt x="2105686" y="953854"/>
                  </a:cubicBezTo>
                  <a:lnTo>
                    <a:pt x="220061" y="953854"/>
                  </a:lnTo>
                  <a:cubicBezTo>
                    <a:pt x="208150" y="953854"/>
                    <a:pt x="197390" y="946743"/>
                    <a:pt x="192721" y="935785"/>
                  </a:cubicBezTo>
                  <a:lnTo>
                    <a:pt x="4919" y="494996"/>
                  </a:lnTo>
                  <a:cubicBezTo>
                    <a:pt x="0" y="483452"/>
                    <a:pt x="0" y="470402"/>
                    <a:pt x="4919" y="458858"/>
                  </a:cubicBezTo>
                  <a:lnTo>
                    <a:pt x="192721" y="18069"/>
                  </a:lnTo>
                  <a:cubicBezTo>
                    <a:pt x="197390" y="7111"/>
                    <a:pt x="208150" y="0"/>
                    <a:pt x="220061" y="0"/>
                  </a:cubicBezTo>
                  <a:lnTo>
                    <a:pt x="2105686" y="0"/>
                  </a:lnTo>
                  <a:cubicBezTo>
                    <a:pt x="2117597" y="0"/>
                    <a:pt x="2128356" y="7111"/>
                    <a:pt x="2133025" y="18069"/>
                  </a:cubicBezTo>
                  <a:lnTo>
                    <a:pt x="2320828" y="458858"/>
                  </a:lnTo>
                  <a:cubicBezTo>
                    <a:pt x="2325746" y="470402"/>
                    <a:pt x="2325746" y="483452"/>
                    <a:pt x="2320828" y="494996"/>
                  </a:cubicBezTo>
                  <a:close/>
                </a:path>
              </a:pathLst>
            </a:custGeom>
            <a:solidFill>
              <a:srgbClr val="F3C62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66675"/>
              <a:ext cx="2102707" cy="1020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07211" y="2069698"/>
            <a:ext cx="1550800" cy="1332719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8214" y="0"/>
              <a:ext cx="776372" cy="698500"/>
            </a:xfrm>
            <a:custGeom>
              <a:avLst/>
              <a:gdLst/>
              <a:ahLst/>
              <a:cxnLst/>
              <a:rect r="r" b="b" t="t" l="l"/>
              <a:pathLst>
                <a:path h="698500" w="776372">
                  <a:moveTo>
                    <a:pt x="746886" y="431235"/>
                  </a:moveTo>
                  <a:lnTo>
                    <a:pt x="639086" y="616515"/>
                  </a:lnTo>
                  <a:cubicBezTo>
                    <a:pt x="609554" y="667274"/>
                    <a:pt x="555259" y="698500"/>
                    <a:pt x="496534" y="698500"/>
                  </a:cubicBezTo>
                  <a:lnTo>
                    <a:pt x="279838" y="698500"/>
                  </a:lnTo>
                  <a:cubicBezTo>
                    <a:pt x="221113" y="698500"/>
                    <a:pt x="166818" y="667274"/>
                    <a:pt x="137286" y="616515"/>
                  </a:cubicBezTo>
                  <a:lnTo>
                    <a:pt x="29486" y="431235"/>
                  </a:lnTo>
                  <a:cubicBezTo>
                    <a:pt x="0" y="380555"/>
                    <a:pt x="0" y="317945"/>
                    <a:pt x="29486" y="267265"/>
                  </a:cubicBezTo>
                  <a:lnTo>
                    <a:pt x="137286" y="81985"/>
                  </a:lnTo>
                  <a:cubicBezTo>
                    <a:pt x="166818" y="31226"/>
                    <a:pt x="221113" y="0"/>
                    <a:pt x="279838" y="0"/>
                  </a:cubicBezTo>
                  <a:lnTo>
                    <a:pt x="496534" y="0"/>
                  </a:lnTo>
                  <a:cubicBezTo>
                    <a:pt x="555259" y="0"/>
                    <a:pt x="609554" y="31226"/>
                    <a:pt x="639086" y="81985"/>
                  </a:cubicBezTo>
                  <a:lnTo>
                    <a:pt x="746886" y="267265"/>
                  </a:lnTo>
                  <a:cubicBezTo>
                    <a:pt x="776372" y="317945"/>
                    <a:pt x="776372" y="380555"/>
                    <a:pt x="746886" y="431235"/>
                  </a:cubicBezTo>
                  <a:close/>
                </a:path>
              </a:pathLst>
            </a:custGeom>
            <a:solidFill>
              <a:srgbClr val="EB831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10375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07211" y="6960495"/>
            <a:ext cx="1550800" cy="1332719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8214" y="0"/>
              <a:ext cx="776372" cy="698500"/>
            </a:xfrm>
            <a:custGeom>
              <a:avLst/>
              <a:gdLst/>
              <a:ahLst/>
              <a:cxnLst/>
              <a:rect r="r" b="b" t="t" l="l"/>
              <a:pathLst>
                <a:path h="698500" w="776372">
                  <a:moveTo>
                    <a:pt x="746886" y="431235"/>
                  </a:moveTo>
                  <a:lnTo>
                    <a:pt x="639086" y="616515"/>
                  </a:lnTo>
                  <a:cubicBezTo>
                    <a:pt x="609554" y="667274"/>
                    <a:pt x="555259" y="698500"/>
                    <a:pt x="496534" y="698500"/>
                  </a:cubicBezTo>
                  <a:lnTo>
                    <a:pt x="279838" y="698500"/>
                  </a:lnTo>
                  <a:cubicBezTo>
                    <a:pt x="221113" y="698500"/>
                    <a:pt x="166818" y="667274"/>
                    <a:pt x="137286" y="616515"/>
                  </a:cubicBezTo>
                  <a:lnTo>
                    <a:pt x="29486" y="431235"/>
                  </a:lnTo>
                  <a:cubicBezTo>
                    <a:pt x="0" y="380555"/>
                    <a:pt x="0" y="317945"/>
                    <a:pt x="29486" y="267265"/>
                  </a:cubicBezTo>
                  <a:lnTo>
                    <a:pt x="137286" y="81985"/>
                  </a:lnTo>
                  <a:cubicBezTo>
                    <a:pt x="166818" y="31226"/>
                    <a:pt x="221113" y="0"/>
                    <a:pt x="279838" y="0"/>
                  </a:cubicBezTo>
                  <a:lnTo>
                    <a:pt x="496534" y="0"/>
                  </a:lnTo>
                  <a:cubicBezTo>
                    <a:pt x="555259" y="0"/>
                    <a:pt x="609554" y="31226"/>
                    <a:pt x="639086" y="81985"/>
                  </a:cubicBezTo>
                  <a:lnTo>
                    <a:pt x="746886" y="267265"/>
                  </a:lnTo>
                  <a:cubicBezTo>
                    <a:pt x="776372" y="317945"/>
                    <a:pt x="776372" y="380555"/>
                    <a:pt x="746886" y="431235"/>
                  </a:cubicBezTo>
                  <a:close/>
                </a:path>
              </a:pathLst>
            </a:custGeom>
            <a:solidFill>
              <a:srgbClr val="EB831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10375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-2628900" y="9258300"/>
            <a:ext cx="7315200" cy="3968496"/>
          </a:xfrm>
          <a:custGeom>
            <a:avLst/>
            <a:gdLst/>
            <a:ahLst/>
            <a:cxnLst/>
            <a:rect r="r" b="b" t="t" l="l"/>
            <a:pathLst>
              <a:path h="3968496" w="7315200">
                <a:moveTo>
                  <a:pt x="7315200" y="0"/>
                </a:moveTo>
                <a:lnTo>
                  <a:pt x="0" y="0"/>
                </a:lnTo>
                <a:lnTo>
                  <a:pt x="0" y="3968496"/>
                </a:lnTo>
                <a:lnTo>
                  <a:pt x="7315200" y="396849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9024968">
            <a:off x="373460" y="-600314"/>
            <a:ext cx="1874995" cy="2008027"/>
          </a:xfrm>
          <a:custGeom>
            <a:avLst/>
            <a:gdLst/>
            <a:ahLst/>
            <a:cxnLst/>
            <a:rect r="r" b="b" t="t" l="l"/>
            <a:pathLst>
              <a:path h="2008027" w="1874995">
                <a:moveTo>
                  <a:pt x="0" y="0"/>
                </a:moveTo>
                <a:lnTo>
                  <a:pt x="1874996" y="0"/>
                </a:lnTo>
                <a:lnTo>
                  <a:pt x="1874996" y="2008027"/>
                </a:lnTo>
                <a:lnTo>
                  <a:pt x="0" y="20080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-1470383" y="-473566"/>
            <a:ext cx="2940766" cy="2966724"/>
          </a:xfrm>
          <a:custGeom>
            <a:avLst/>
            <a:gdLst/>
            <a:ahLst/>
            <a:cxnLst/>
            <a:rect r="r" b="b" t="t" l="l"/>
            <a:pathLst>
              <a:path h="2966724" w="2940766">
                <a:moveTo>
                  <a:pt x="0" y="0"/>
                </a:moveTo>
                <a:lnTo>
                  <a:pt x="2940766" y="0"/>
                </a:lnTo>
                <a:lnTo>
                  <a:pt x="2940766" y="2966724"/>
                </a:lnTo>
                <a:lnTo>
                  <a:pt x="0" y="29667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060078" y="8589517"/>
            <a:ext cx="664603" cy="668783"/>
          </a:xfrm>
          <a:custGeom>
            <a:avLst/>
            <a:gdLst/>
            <a:ahLst/>
            <a:cxnLst/>
            <a:rect r="r" b="b" t="t" l="l"/>
            <a:pathLst>
              <a:path h="668783" w="664603">
                <a:moveTo>
                  <a:pt x="0" y="0"/>
                </a:moveTo>
                <a:lnTo>
                  <a:pt x="664603" y="0"/>
                </a:lnTo>
                <a:lnTo>
                  <a:pt x="664603" y="668783"/>
                </a:lnTo>
                <a:lnTo>
                  <a:pt x="0" y="6687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66831" y="4255187"/>
            <a:ext cx="5693247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Highlights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96030" y="1656449"/>
            <a:ext cx="7930829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marketing_campaign_data.xlsx file reveals large-scale campaigns with some campaigns reaching over 100 million people (e.g., the "March Brand Awareness" campaign with a reach of 141,835,342) and significant ad spend, with individual campaigns sometimes exceeding AED20,000. This demonstrates a robust investment in marketing and substantial efforts to establish brand visibility and drive web applications.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09910" y="7016622"/>
            <a:ext cx="7816949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0375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Cohort-transformed.csv file shows a vast number of program cohorts launched over several years, ranging from very small (single-digit) to extremely large sizes (over 100,000 participants in some cohorts). This points to a highly scalable educational or engagement platform that is consistently running and iterating various cohorts to attract diverse audiences.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96030" y="535451"/>
            <a:ext cx="656172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Extensive and High-Spending Marketing Campaigns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27433" y="5834386"/>
            <a:ext cx="656172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Diverse and Repeated Program Cohorts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5619">
            <a:off x="15227412" y="438583"/>
            <a:ext cx="2062557" cy="1946538"/>
          </a:xfrm>
          <a:custGeom>
            <a:avLst/>
            <a:gdLst/>
            <a:ahLst/>
            <a:cxnLst/>
            <a:rect r="r" b="b" t="t" l="l"/>
            <a:pathLst>
              <a:path h="1946538" w="2062557">
                <a:moveTo>
                  <a:pt x="0" y="0"/>
                </a:moveTo>
                <a:lnTo>
                  <a:pt x="2062557" y="0"/>
                </a:lnTo>
                <a:lnTo>
                  <a:pt x="2062557" y="1946537"/>
                </a:lnTo>
                <a:lnTo>
                  <a:pt x="0" y="1946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15992463" y="-1716715"/>
            <a:ext cx="4591073" cy="4527946"/>
          </a:xfrm>
          <a:custGeom>
            <a:avLst/>
            <a:gdLst/>
            <a:ahLst/>
            <a:cxnLst/>
            <a:rect r="r" b="b" t="t" l="l"/>
            <a:pathLst>
              <a:path h="4527946" w="4591073">
                <a:moveTo>
                  <a:pt x="0" y="0"/>
                </a:moveTo>
                <a:lnTo>
                  <a:pt x="4591074" y="0"/>
                </a:lnTo>
                <a:lnTo>
                  <a:pt x="4591074" y="4527946"/>
                </a:lnTo>
                <a:lnTo>
                  <a:pt x="0" y="4527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906379"/>
            <a:ext cx="2380183" cy="2751657"/>
          </a:xfrm>
          <a:custGeom>
            <a:avLst/>
            <a:gdLst/>
            <a:ahLst/>
            <a:cxnLst/>
            <a:rect r="r" b="b" t="t" l="l"/>
            <a:pathLst>
              <a:path h="2751657" w="2380183">
                <a:moveTo>
                  <a:pt x="0" y="0"/>
                </a:moveTo>
                <a:lnTo>
                  <a:pt x="2380183" y="0"/>
                </a:lnTo>
                <a:lnTo>
                  <a:pt x="2380183" y="2751656"/>
                </a:lnTo>
                <a:lnTo>
                  <a:pt x="0" y="2751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795581">
            <a:off x="-1716002" y="7641267"/>
            <a:ext cx="4053078" cy="4114800"/>
          </a:xfrm>
          <a:custGeom>
            <a:avLst/>
            <a:gdLst/>
            <a:ahLst/>
            <a:cxnLst/>
            <a:rect r="r" b="b" t="t" l="l"/>
            <a:pathLst>
              <a:path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597117">
            <a:off x="-2242764" y="-2187000"/>
            <a:ext cx="4984982" cy="4798045"/>
          </a:xfrm>
          <a:custGeom>
            <a:avLst/>
            <a:gdLst/>
            <a:ahLst/>
            <a:cxnLst/>
            <a:rect r="r" b="b" t="t" l="l"/>
            <a:pathLst>
              <a:path h="4798045" w="4984982">
                <a:moveTo>
                  <a:pt x="0" y="0"/>
                </a:moveTo>
                <a:lnTo>
                  <a:pt x="4984982" y="0"/>
                </a:lnTo>
                <a:lnTo>
                  <a:pt x="4984982" y="4798045"/>
                </a:lnTo>
                <a:lnTo>
                  <a:pt x="0" y="4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14227" y="7497260"/>
            <a:ext cx="4586234" cy="3921230"/>
          </a:xfrm>
          <a:custGeom>
            <a:avLst/>
            <a:gdLst/>
            <a:ahLst/>
            <a:cxnLst/>
            <a:rect r="r" b="b" t="t" l="l"/>
            <a:pathLst>
              <a:path h="3921230" w="4586234">
                <a:moveTo>
                  <a:pt x="0" y="0"/>
                </a:moveTo>
                <a:lnTo>
                  <a:pt x="4586235" y="0"/>
                </a:lnTo>
                <a:lnTo>
                  <a:pt x="4586235" y="3921230"/>
                </a:lnTo>
                <a:lnTo>
                  <a:pt x="0" y="3921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699339" y="3656515"/>
            <a:ext cx="14889322" cy="256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8"/>
              </a:lnSpc>
            </a:pPr>
            <a:r>
              <a:rPr lang="en-US" b="true" sz="14170">
                <a:solidFill>
                  <a:srgbClr val="10375C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DAGvGS5Ofzw</dc:identifier>
  <dcterms:modified xsi:type="dcterms:W3CDTF">2011-08-01T06:04:30Z</dcterms:modified>
  <cp:revision>1</cp:revision>
  <dc:title>Week 4 - Team 33 Presentation</dc:title>
</cp:coreProperties>
</file>